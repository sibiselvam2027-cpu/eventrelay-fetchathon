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77dd20e09242d9" /><Relationship Type="http://schemas.openxmlformats.org/officeDocument/2006/relationships/extended-properties" Target="/docProps/app.xml" Id="Rbf65284929d74ff1" /><Relationship Type="http://schemas.openxmlformats.org/officeDocument/2006/relationships/officeDocument" Target="/ppt/presentation.xml" Id="R3ef9d2073f674f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2d54b4c3c436b"/>
  </p:sldMasterIdLst>
  <p:notesMasterIdLst>
    <p:notesMasterId xmlns:r="http://schemas.openxmlformats.org/officeDocument/2006/relationships" r:id="Rc3058bde5e6146db"/>
  </p:notesMasterIdLst>
  <p:sldIdLst>
    <p:sldId xmlns:r="http://schemas.openxmlformats.org/officeDocument/2006/relationships" id="256" r:id="R47d583d20819416d"/>
    <p:sldId xmlns:r="http://schemas.openxmlformats.org/officeDocument/2006/relationships" id="257" r:id="R8ea4b05a344a4bc0"/>
    <p:sldId xmlns:r="http://schemas.openxmlformats.org/officeDocument/2006/relationships" id="258" r:id="R8be36cb7ea3841b5"/>
    <p:sldId xmlns:r="http://schemas.openxmlformats.org/officeDocument/2006/relationships" id="259" r:id="R0a1bfe57d40d4060"/>
    <p:sldId xmlns:r="http://schemas.openxmlformats.org/officeDocument/2006/relationships" id="260" r:id="R2bfa22f3415c466b"/>
    <p:sldId xmlns:r="http://schemas.openxmlformats.org/officeDocument/2006/relationships" id="261" r:id="R0a25a37159b94353"/>
    <p:sldId xmlns:r="http://schemas.openxmlformats.org/officeDocument/2006/relationships" id="262" r:id="Rc9b184e133654045"/>
    <p:sldId xmlns:r="http://schemas.openxmlformats.org/officeDocument/2006/relationships" id="263" r:id="R54021f681b8a4f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9319ba9c654dd3" /><Relationship Type="http://schemas.openxmlformats.org/officeDocument/2006/relationships/slideMaster" Target="/ppt/slideMasters/slideMaster1.xml" Id="R9262d54b4c3c436b" /><Relationship Type="http://schemas.openxmlformats.org/officeDocument/2006/relationships/notesMaster" Target="/ppt/notesMasters/notesMaster1.xml" Id="Rc3058bde5e6146db" /><Relationship Type="http://schemas.openxmlformats.org/officeDocument/2006/relationships/presProps" Target="/ppt/presProps.xml" Id="Rb367f8cd81884aa4" /><Relationship Type="http://schemas.openxmlformats.org/officeDocument/2006/relationships/tableStyles" Target="/ppt/tableStyles.xml" Id="Re3bed1aa95994864" /><Relationship Type="http://schemas.openxmlformats.org/officeDocument/2006/relationships/slide" Target="/ppt/slides/slide1.xml" Id="R47d583d20819416d" /><Relationship Type="http://schemas.openxmlformats.org/officeDocument/2006/relationships/slide" Target="/ppt/slides/slide2.xml" Id="R8ea4b05a344a4bc0" /><Relationship Type="http://schemas.openxmlformats.org/officeDocument/2006/relationships/slide" Target="/ppt/slides/slide3.xml" Id="R8be36cb7ea3841b5" /><Relationship Type="http://schemas.openxmlformats.org/officeDocument/2006/relationships/slide" Target="/ppt/slides/slide4.xml" Id="R0a1bfe57d40d4060" /><Relationship Type="http://schemas.openxmlformats.org/officeDocument/2006/relationships/slide" Target="/ppt/slides/slide5.xml" Id="R2bfa22f3415c466b" /><Relationship Type="http://schemas.openxmlformats.org/officeDocument/2006/relationships/slide" Target="/ppt/slides/slide6.xml" Id="R0a25a37159b94353" /><Relationship Type="http://schemas.openxmlformats.org/officeDocument/2006/relationships/slide" Target="/ppt/slides/slide7.xml" Id="Rc9b184e133654045" /><Relationship Type="http://schemas.openxmlformats.org/officeDocument/2006/relationships/slide" Target="/ppt/slides/slide8.xml" Id="R54021f681b8a4f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83f169512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60bf707bd54838" /><Relationship Type="http://schemas.openxmlformats.org/officeDocument/2006/relationships/notesMaster" Target="/ppt/notesMasters/notesMaster1.xml" Id="R093ce62c9fbe47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1934f8d5004509" /><Relationship Type="http://schemas.openxmlformats.org/officeDocument/2006/relationships/notesMaster" Target="/ppt/notesMasters/notesMaster1.xml" Id="R81e7ad37c6f64c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b35597e4d54725" /><Relationship Type="http://schemas.openxmlformats.org/officeDocument/2006/relationships/notesMaster" Target="/ppt/notesMasters/notesMaster1.xml" Id="Rf879f11deed34b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fcfe227f654431" /><Relationship Type="http://schemas.openxmlformats.org/officeDocument/2006/relationships/notesMaster" Target="/ppt/notesMasters/notesMaster1.xml" Id="R97a238c914224f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b29ba38ede496b" /><Relationship Type="http://schemas.openxmlformats.org/officeDocument/2006/relationships/notesMaster" Target="/ppt/notesMasters/notesMaster1.xml" Id="Rc975126184134c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052d3b8e77425f" /><Relationship Type="http://schemas.openxmlformats.org/officeDocument/2006/relationships/notesMaster" Target="/ppt/notesMasters/notesMaster1.xml" Id="Rdb79cab9989e48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b99249e21e49a2" /><Relationship Type="http://schemas.openxmlformats.org/officeDocument/2006/relationships/notesMaster" Target="/ppt/notesMasters/notesMaster1.xml" Id="R437790420e8c4b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8ba74e989a4ffe" /><Relationship Type="http://schemas.openxmlformats.org/officeDocument/2006/relationships/notesMaster" Target="/ppt/notesMasters/notesMaster1.xml" Id="R32b0555f79c541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EventRelay is a prototype for event issue handoffs. All five product roles run as Agentverse Hosted Agents and support ACP. ASI:One is the only product interface, without a custom frontend. Humans perform the physical work. The project demonstrations use synthetic event/crew decisions. Sources: https://github.com/sibiselvam2027-cpu/eventrelay-fetchathon</a:t>
            </a:r>
          </a:p>
          <a:p xmlns:a="http://schemas.openxmlformats.org/drawingml/2006/main">
            <a:r>
              <a:t>https://www.fetch.ai/events/hackathons/fetch-a-thon-3/hackpack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scenario written for this deck, not a customer quote or measured incident. Proposed buyer: event planner or venue operator. Reporters can be family, designated event staff and organizers. Vendor crews and the coordinator operate the workflow. Source for buyer hypothesis: https://github.com/sibiselvam2027-cpu/eventrelay-fetchathon/blob/main/docs/BUSINESS_MODEL.md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listed role is a separate hosted uAgent with ACP. The coordinator selects eligible people from the responsibility roster. Vendor agents handle category-specific offer/decision messages, not autonomous physical repairs. Demo accept/decline decisions are explicitly configured synthetic responses. Actual staff can only act through trusted sender mappings. Source: https://github.com/sibiselvam2027-cpu/eventrelay-fetchathon/blob/main/eventrelay/hosted_runtime.py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INPUT: problem/location provided in an ASI:One message. Coordinator uses ASI1 for intent, validates category/location and selects eligible staff through code. Four hosted vendor agents receive typed IssueOffer messages and return VendorDecision/crew progress messages. OUTPUT in ASI:One includes issue reference, accountable owner and current state. Receipt never implies acceptance. Sources: https://github.com/sibiselvam2027-cpu/eventrelay-fetchathon/blob/main/eventrelay/hosted_runtime.py</a:t>
            </a:r>
          </a:p>
          <a:p xmlns:a="http://schemas.openxmlformats.org/drawingml/2006/main">
            <a:r>
              <a:t>https://github.com/sibiselvam2027-cpu/eventrelay-fetchathon/blob/main/eventrelay/router.py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complaint is clarified before routing. Explicit crew acceptance is separate from delivery. Decline or timeout can select an eligible backup. Lack of capacity or overdue follow-up escalates to organizer attention. Crew completion awaits original reporter/organizer confirmation. A rejected fix reopens the same ID. Unresolved/escalated is a visible current outcome, not a claim that the incident can never recover. Source: https://github.com/sibiselvam2027-cpu/eventrelay-fetchathon/blob/main/eventrelay/store.py</a:t>
            </a:r>
          </a:p>
          <a:p xmlns:a="http://schemas.openxmlformats.org/drawingml/2006/main">
            <a:r>
              <a:t>https://github.com/sibiselvam2027-cpu/eventrelay-fetchathon/blob/main/docs/ASI_WEB_PROOF.md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Verbatim excerpts checked against the verified public shared-chat text for ER-4DE240CA only. Transport mentions omitted from the displayed excerpt, not rewritten as UI. Reopen observation retains the same issue ID and Ravi subsequently reaccepted. At around 18:44 IST the original reporter confirmed closed. Mixed native cards and typed commands, with material UI delays; not continuous footage or flawless latency. Synthetic crew decisions and physical work. Sources: https://asi1.ai/shared-chat/69fc8518-55f8-4b17-bd88-59988ba627f7</a:t>
            </a:r>
          </a:p>
          <a:p xmlns:a="http://schemas.openxmlformats.org/drawingml/2006/main">
            <a:r>
              <a:t>https://github.com/sibiselvam2027-cpu/eventrelay-fetchathon/blob/main/docs/ASI_WEB_PROOF.md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Everything on this slide is proposed, not a claim of implemented integrations or adoption. Current prototype has trusted sender allowlists, but production crew onboarding needs a real pilot. Router currently uses one demonstration event. WhatsApp/voice and multi-event features are future integrations only. Business model is an unvalidated paid-pilot and later agency-subscription hypothesis. Source: https://github.com/sibiselvam2027-cpu/eventrelay-fetchathon/blob/main/docs/BUSINESS_MODEL.md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URLs are public. The coordinator entry uses its verified full address rather than an unverified friendly handle. Shared chat is read-only demonstration evidence. Test in a new personal conversation, not the public viewer. No private team IDs, emails, member names or private room/session identifiers are included. https://asi1.ai/ai/agent1qw8wdau552av7vc7u0cgc4te3skntynvwkxay8244u995xcd67m32tjqmzu</a:t>
            </a:r>
          </a:p>
          <a:p xmlns:a="http://schemas.openxmlformats.org/drawingml/2006/main">
            <a:r>
              <a:t>https://github.com/sibiselvam2027-cpu/eventrelay-fetchathon</a:t>
            </a:r>
          </a:p>
          <a:p xmlns:a="http://schemas.openxmlformats.org/drawingml/2006/main">
            <a:r>
              <a:t>https://asi1.ai/shared-chat/69fc8518-55f8-4b17-bd88-59988ba627f7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ea9fffcd94e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dd80d893f4f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5f09bd12d4f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5efd28b6b4e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84ee7499441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cc9ee5900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25FD91-F23A-4B9C-ADBA-FA2D802D64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BD2A1F-5B94-4FF6-979C-29F7DD4248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CFEEB3-C137-403E-8F8F-813DC3B84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09F5AB-114C-4CDE-B00F-09591786F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3B3152-DCAB-4F25-B67B-D647F4FDEA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A6E366-A45D-43B2-AC0C-0563250DA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B0C5CD-DBE0-43C1-B308-59BC2286A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35BB7C-2C90-4BEA-B003-543358AFED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3FE94D-CB4D-43CB-82D0-E54CDC317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26C7FE-1775-4118-88C3-FF0DA89FD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1dc6006f5d4a1e" /><Relationship Type="http://schemas.openxmlformats.org/officeDocument/2006/relationships/slideLayout" Target="/ppt/slideLayouts/slideLayout1.xml" Id="R4035194344504eb6" /><Relationship Type="http://schemas.openxmlformats.org/officeDocument/2006/relationships/slideLayout" Target="/ppt/slideLayouts/slideLayout2.xml" Id="R32094e8ddbca4e8f" /><Relationship Type="http://schemas.openxmlformats.org/officeDocument/2006/relationships/slideLayout" Target="/ppt/slideLayouts/slideLayout3.xml" Id="R29d60d1852724279" /><Relationship Type="http://schemas.openxmlformats.org/officeDocument/2006/relationships/slideLayout" Target="/ppt/slideLayouts/slideLayout4.xml" Id="R32eb8959c4a449a0" /><Relationship Type="http://schemas.openxmlformats.org/officeDocument/2006/relationships/slideLayout" Target="/ppt/slideLayouts/slideLayout5.xml" Id="Rac234ef83d0a4a82" /><Relationship Type="http://schemas.openxmlformats.org/officeDocument/2006/relationships/slideLayout" Target="/ppt/slideLayouts/slideLayout6.xml" Id="Rbcbbcb09e81d4f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35194344504eb6"/>
    <p:sldLayoutId xmlns:r="http://schemas.openxmlformats.org/officeDocument/2006/relationships" id="2147483650" r:id="R32094e8ddbca4e8f"/>
    <p:sldLayoutId xmlns:r="http://schemas.openxmlformats.org/officeDocument/2006/relationships" id="2147483651" r:id="R29d60d1852724279"/>
    <p:sldLayoutId xmlns:r="http://schemas.openxmlformats.org/officeDocument/2006/relationships" id="2147483652" r:id="R32eb8959c4a449a0"/>
    <p:sldLayoutId xmlns:r="http://schemas.openxmlformats.org/officeDocument/2006/relationships" id="2147483653" r:id="Rac234ef83d0a4a82"/>
    <p:sldLayoutId xmlns:r="http://schemas.openxmlformats.org/officeDocument/2006/relationships" id="2147483654" r:id="Rbcbbcb09e81d4f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254c62c2fc4c0a" /><Relationship Type="http://schemas.openxmlformats.org/officeDocument/2006/relationships/notesSlide" Target="/ppt/notesSlides/notesSlide1.xml" Id="R5fbe542e8dfe46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b10479b1243fb" /><Relationship Type="http://schemas.openxmlformats.org/officeDocument/2006/relationships/notesSlide" Target="/ppt/notesSlides/notesSlide2.xml" Id="R29a0d0270e184a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465ab0e53447c" /><Relationship Type="http://schemas.openxmlformats.org/officeDocument/2006/relationships/notesSlide" Target="/ppt/notesSlides/notesSlide3.xml" Id="R4a268bcee26f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3871311514ba9" /><Relationship Type="http://schemas.openxmlformats.org/officeDocument/2006/relationships/notesSlide" Target="/ppt/notesSlides/notesSlide4.xml" Id="Rec2b04d877bf4c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868e4fad54cf8" /><Relationship Type="http://schemas.openxmlformats.org/officeDocument/2006/relationships/notesSlide" Target="/ppt/notesSlides/notesSlide5.xml" Id="Rd3e992de52e247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d613fad754409" /><Relationship Type="http://schemas.openxmlformats.org/officeDocument/2006/relationships/notesSlide" Target="/ppt/notesSlides/notesSlide6.xml" Id="R40ea85a3517146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0ed0acc0c4432" /><Relationship Type="http://schemas.openxmlformats.org/officeDocument/2006/relationships/notesSlide" Target="/ppt/notesSlides/notesSlide7.xml" Id="Rf9740a61e8f549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9adf439354c0a" /><Relationship Type="http://schemas.openxmlformats.org/officeDocument/2006/relationships/hyperlink" Target="https://asi1.ai/ai/agent1qw8wdau552av7vc7u0cgc4te3skntynvwkxay8244u995xcd67m32tjqmzu" TargetMode="External" Id="R056aed1ee8cd43ef" /><Relationship Type="http://schemas.openxmlformats.org/officeDocument/2006/relationships/hyperlink" Target="https://github.com/sibiselvam2027-cpu/eventrelay-fetchathon" TargetMode="External" Id="R324ddbf72318491c" /><Relationship Type="http://schemas.openxmlformats.org/officeDocument/2006/relationships/hyperlink" Target="https://asi1.ai/shared-chat/69fc8518-55f8-4b17-bd88-59988ba627f7" TargetMode="External" Id="R99155716bc7c4700" /><Relationship Type="http://schemas.openxmlformats.org/officeDocument/2006/relationships/notesSlide" Target="/ppt/notesSlides/notesSlide8.xml" Id="Raa15bda6666344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ventRelay">
            <a:extLst xmlns:a="http://schemas.openxmlformats.org/drawingml/2006/main">
              <a:ext uri="{FF2B5EF4-FFF2-40B4-BE49-F238E27FC236}">
                <a16:creationId xmlns:a16="http://schemas.microsoft.com/office/drawing/2014/main" id="{BBB8827D-FB9F-4C7B-AA9E-7F8D43F1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705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EventRelay</a:t>
            </a:r>
          </a:p>
        </p:txBody>
      </p:sp>
      <p:sp>
        <p:nvSpPr>
          <p:cNvPr id="2" name="Event issue coordination&#10;until the reporter confirms a fix">
            <a:extLst xmlns:a="http://schemas.openxmlformats.org/drawingml/2006/main">
              <a:ext uri="{FF2B5EF4-FFF2-40B4-BE49-F238E27FC236}">
                <a16:creationId xmlns:a16="http://schemas.microsoft.com/office/drawing/2014/main" id="{B7476780-F554-4511-9273-C91A927E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57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345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Event issue coordination</a:t>
            </a:r>
          </a:p>
          <a:p xmlns:a="http://schemas.openxmlformats.org/drawingml/2006/main">
            <a:pPr algn="l">
              <a:defRPr sz="34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345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until the reporter confirms a fix</a:t>
            </a:r>
          </a:p>
        </p:txBody>
      </p:sp>
      <p:sp>
        <p:nvSpPr>
          <p:cNvPr id="3" name="ASI:One interface&#10;Five Agentverse Hosted Agents&#10;Direct uAgents with AC">
            <a:extLst xmlns:a="http://schemas.openxmlformats.org/drawingml/2006/main">
              <a:ext uri="{FF2B5EF4-FFF2-40B4-BE49-F238E27FC236}">
                <a16:creationId xmlns:a16="http://schemas.microsoft.com/office/drawing/2014/main" id="{3B37F7A3-F704-4C7A-BF22-210EEF52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971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ASI:One interface</a:t>
            </a:r>
          </a:p>
          <a:p xmlns:a="http://schemas.openxmlformats.org/drawingml/2006/main">
            <a: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Five Agentverse Hosted Agents</a:t>
            </a:r>
          </a:p>
          <a:p xmlns:a="http://schemas.openxmlformats.org/drawingml/2006/main">
            <a:pPr algn="l">
              <a:defRPr sz="21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Direct uAgents with ACP</a:t>
            </a:r>
          </a:p>
        </p:txBody>
      </p:sp>
      <p:sp>
        <p:nvSpPr>
          <p:cNvPr id="4" name="Fetch-A-Thon 3.0, 24 October 2026">
            <a:extLst xmlns:a="http://schemas.openxmlformats.org/drawingml/2006/main">
              <a:ext uri="{FF2B5EF4-FFF2-40B4-BE49-F238E27FC236}">
                <a16:creationId xmlns:a16="http://schemas.microsoft.com/office/drawing/2014/main" id="{995B38F3-7433-48FB-BEF6-68C70799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Fetch-A-Thon 3.0, 24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25546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 wedding handoff without an owner">
            <a:extLst xmlns:a="http://schemas.openxmlformats.org/drawingml/2006/main">
              <a:ext uri="{FF2B5EF4-FFF2-40B4-BE49-F238E27FC236}">
                <a16:creationId xmlns:a16="http://schemas.microsoft.com/office/drawing/2014/main" id="{11035F60-8328-498D-83F7-30FF605B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A wedding handoff without an owner</a:t>
            </a:r>
          </a:p>
        </p:txBody>
      </p:sp>
      <p:sp>
        <p:nvSpPr>
          <p:cNvPr id="2" name="Illustrative scenario">
            <a:extLst xmlns:a="http://schemas.openxmlformats.org/drawingml/2006/main">
              <a:ext uri="{FF2B5EF4-FFF2-40B4-BE49-F238E27FC236}">
                <a16:creationId xmlns:a16="http://schemas.microsoft.com/office/drawing/2014/main" id="{47E46487-CCA5-44CF-9175-4475BA55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Illustrative scenario</a:t>
            </a:r>
          </a:p>
        </p:txBody>
      </p:sp>
      <p:sp>
        <p:nvSpPr>
          <p:cNvPr id="3" name="Family">
            <a:extLst xmlns:a="http://schemas.openxmlformats.org/drawingml/2006/main">
              <a:ext uri="{FF2B5EF4-FFF2-40B4-BE49-F238E27FC236}">
                <a16:creationId xmlns:a16="http://schemas.microsoft.com/office/drawing/2014/main" id="{ACBE713A-02AA-40A2-8264-4FC1FCC5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Family</a:t>
            </a:r>
          </a:p>
        </p:txBody>
      </p:sp>
      <p:sp>
        <p:nvSpPr>
          <p:cNvPr id="4" name="“The microphone is silent at the Stage.”">
            <a:extLst xmlns:a="http://schemas.openxmlformats.org/drawingml/2006/main">
              <a:ext uri="{FF2B5EF4-FFF2-40B4-BE49-F238E27FC236}">
                <a16:creationId xmlns:a16="http://schemas.microsoft.com/office/drawing/2014/main" id="{7BBF9860-4DB5-4840-A8D1-9161AD3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57425"/>
            <a:ext cx="8505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“The microphone is silent at the Stage.”</a:t>
            </a:r>
          </a:p>
        </p:txBody>
      </p:sp>
      <p:sp>
        <p:nvSpPr>
          <p:cNvPr id="5" name="Coordinator">
            <a:extLst xmlns:a="http://schemas.openxmlformats.org/drawingml/2006/main">
              <a:ext uri="{FF2B5EF4-FFF2-40B4-BE49-F238E27FC236}">
                <a16:creationId xmlns:a16="http://schemas.microsoft.com/office/drawing/2014/main" id="{4F5C1004-AE11-446F-AFBC-4C035427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Coordinator</a:t>
            </a:r>
          </a:p>
        </p:txBody>
      </p:sp>
      <p:sp>
        <p:nvSpPr>
          <p:cNvPr id="6" name="“AV team, are you handling it?”">
            <a:extLst xmlns:a="http://schemas.openxmlformats.org/drawingml/2006/main">
              <a:ext uri="{FF2B5EF4-FFF2-40B4-BE49-F238E27FC236}">
                <a16:creationId xmlns:a16="http://schemas.microsoft.com/office/drawing/2014/main" id="{80904B5A-C819-4CE2-B79A-A7C7AE78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71800"/>
            <a:ext cx="8505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“AV team, are you handling it?”</a:t>
            </a:r>
          </a:p>
        </p:txBody>
      </p:sp>
      <p:sp>
        <p:nvSpPr>
          <p:cNvPr id="7" name="AV crew">
            <a:extLst xmlns:a="http://schemas.openxmlformats.org/drawingml/2006/main">
              <a:ext uri="{FF2B5EF4-FFF2-40B4-BE49-F238E27FC236}">
                <a16:creationId xmlns:a16="http://schemas.microsoft.com/office/drawing/2014/main" id="{40396562-E144-4DAA-BA98-A264782D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AV crew</a:t>
            </a:r>
          </a:p>
        </p:txBody>
      </p:sp>
      <p:sp>
        <p:nvSpPr>
          <p:cNvPr id="8" name="“We thought the venue had it.”">
            <a:extLst xmlns:a="http://schemas.openxmlformats.org/drawingml/2006/main">
              <a:ext uri="{FF2B5EF4-FFF2-40B4-BE49-F238E27FC236}">
                <a16:creationId xmlns:a16="http://schemas.microsoft.com/office/drawing/2014/main" id="{AD21D352-5499-4B42-89AC-60FEA03D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86175"/>
            <a:ext cx="8505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“We thought the venue had it.”</a:t>
            </a:r>
          </a:p>
        </p:txBody>
      </p:sp>
      <p:sp>
        <p:nvSpPr>
          <p:cNvPr id="9" name="Venue">
            <a:extLst xmlns:a="http://schemas.openxmlformats.org/drawingml/2006/main">
              <a:ext uri="{FF2B5EF4-FFF2-40B4-BE49-F238E27FC236}">
                <a16:creationId xmlns:a16="http://schemas.microsoft.com/office/drawing/2014/main" id="{284AB0A0-7235-42C9-B5AE-0BBE58BD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Venue</a:t>
            </a:r>
          </a:p>
        </p:txBody>
      </p:sp>
      <p:sp>
        <p:nvSpPr>
          <p:cNvPr id="10" name="“Please check with AV.”">
            <a:extLst xmlns:a="http://schemas.openxmlformats.org/drawingml/2006/main">
              <a:ext uri="{FF2B5EF4-FFF2-40B4-BE49-F238E27FC236}">
                <a16:creationId xmlns:a16="http://schemas.microsoft.com/office/drawing/2014/main" id="{9D2E8716-1A10-4020-95C1-8175B972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00550"/>
            <a:ext cx="8505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“Please check with AV.”</a:t>
            </a:r>
          </a:p>
        </p:txBody>
      </p:sp>
      <p:sp>
        <p:nvSpPr>
          <p:cNvPr id="11" name="The problem: no clear acceptance, repeated chasing,&#10;and no confirmatio">
            <a:extLst xmlns:a="http://schemas.openxmlformats.org/drawingml/2006/main">
              <a:ext uri="{FF2B5EF4-FFF2-40B4-BE49-F238E27FC236}">
                <a16:creationId xmlns:a16="http://schemas.microsoft.com/office/drawing/2014/main" id="{8BD9E29F-5623-4013-96A3-5CA3646F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The problem: no clear acceptance, repeated chasing,</a:t>
            </a:r>
          </a:p>
          <a:p xmlns:a="http://schemas.openxmlformats.org/drawingml/2006/main">
            <a:pPr algn="l">
              <a:defRPr sz="22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and no confirmation that the fix worked.</a:t>
            </a:r>
          </a:p>
        </p:txBody>
      </p:sp>
    </p:spTree>
    <p:extLst>
      <p:ext uri="{BB962C8B-B14F-4D97-AF65-F5344CB8AC3E}">
        <p14:creationId xmlns:p14="http://schemas.microsoft.com/office/powerpoint/2010/main" val="1498629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ive agents and their use cases">
            <a:extLst xmlns:a="http://schemas.openxmlformats.org/drawingml/2006/main">
              <a:ext uri="{FF2B5EF4-FFF2-40B4-BE49-F238E27FC236}">
                <a16:creationId xmlns:a16="http://schemas.microsoft.com/office/drawing/2014/main" id="{DC836B86-B370-46B0-B0A8-5D4BD0AD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Five agents and their use cases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99157-C75B-4B22-85E0-B9CA83FB9B0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43125"/>
                <a:gridCol w="3810000"/>
                <a:gridCol w="4867275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59E2BD"/>
                          </a:solidFill>
                          <a:latin typeface="Segoe UI"/>
                          <a:ea typeface="Segoe UI"/>
                          <a:cs typeface="Segoe UI"/>
                        </a:rPr>
                        <a:t>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0465E"/>
                      </a:solidFill>
                      <a:prstDash val="solid"/>
                    </a:lnL>
                    <a:lnR w="9525">
                      <a:solidFill>
                        <a:srgbClr val="30465E"/>
                      </a:solidFill>
                      <a:prstDash val="solid"/>
                    </a:lnR>
                    <a:lnT w="9525">
                      <a:solidFill>
                        <a:srgbClr val="30465E"/>
                      </a:solidFill>
                      <a:prstDash val="solid"/>
                    </a:lnT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59E2BD"/>
                          </a:solidFill>
                          <a:latin typeface="Segoe UI"/>
                          <a:ea typeface="Segoe UI"/>
                          <a:cs typeface="Segoe UI"/>
                        </a:rPr>
                        <a:t>Example issue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T w="9525">
                      <a:solidFill>
                        <a:srgbClr val="30465E"/>
                      </a:solidFill>
                      <a:prstDash val="solid"/>
                    </a:lnT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59E2BD"/>
                          </a:solidFill>
                          <a:latin typeface="Segoe UI"/>
                          <a:ea typeface="Segoe UI"/>
                          <a:cs typeface="Segoe UI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T w="9525">
                      <a:solidFill>
                        <a:srgbClr val="30465E"/>
                      </a:solidFill>
                      <a:prstDash val="solid"/>
                    </a:lnT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Coordinator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0465E"/>
                      </a:solidFill>
                      <a:prstDash val="solid"/>
                    </a:lnL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Unclear issue or location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Clarifies and tracks the issue.</a:t>
                      </a:r>
                    </a:p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Chooses eligible roster staff.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Hospitality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0465E"/>
                      </a:solidFill>
                      <a:prstDash val="solid"/>
                    </a:lnL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Drinking water has run out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Handles water offers and</a:t>
                      </a:r>
                    </a:p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accept/decline replies.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Audio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0465E"/>
                      </a:solidFill>
                      <a:prstDash val="solid"/>
                    </a:lnL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Microphone or speaker failure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Handles audio offers and</a:t>
                      </a:r>
                    </a:p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accept/decline replies.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Facilities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0465E"/>
                      </a:solidFill>
                      <a:prstDash val="solid"/>
                    </a:lnL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Power or lighting outage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Handles facilities offers and</a:t>
                      </a:r>
                    </a:p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accept/decline replies.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Housekeeping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0465E"/>
                      </a:solidFill>
                      <a:prstDash val="solid"/>
                    </a:lnL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Spill or cleanup request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Handles cleanup offers and</a:t>
                      </a:r>
                    </a:p>
                    <a:p>
                      <a:r>
                        <a:rPr sz="1800" b="0">
                          <a:solidFill>
                            <a:srgbClr val="F4F7FC"/>
                          </a:solidFill>
                          <a:latin typeface="Segoe UI"/>
                          <a:ea typeface="Segoe UI"/>
                          <a:cs typeface="Segoe UI"/>
                        </a:rPr>
                        <a:t>accept/decline replies.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0465E"/>
                      </a:solidFill>
                      <a:prstDash val="solid"/>
                    </a:lnR>
                    <a:lnB w="9525">
                      <a:solidFill>
                        <a:srgbClr val="30465E"/>
                      </a:solidFill>
                      <a:prstDash val="solid"/>
                    </a:lnB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3" name="The agents coordinate decisions. People carry out the physical work.">
            <a:extLst xmlns:a="http://schemas.openxmlformats.org/drawingml/2006/main">
              <a:ext uri="{FF2B5EF4-FFF2-40B4-BE49-F238E27FC236}">
                <a16:creationId xmlns:a16="http://schemas.microsoft.com/office/drawing/2014/main" id="{F11DCD4B-3250-4A05-B887-8F5D7051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The agents coordinate decisions. People carry out the physical work.</a:t>
            </a:r>
          </a:p>
        </p:txBody>
      </p:sp>
    </p:spTree>
    <p:extLst>
      <p:ext uri="{BB962C8B-B14F-4D97-AF65-F5344CB8AC3E}">
        <p14:creationId xmlns:p14="http://schemas.microsoft.com/office/powerpoint/2010/main" val="1305301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FBA8E-E517-4C7B-B0D9-282AF6A16EF6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3286125"/>
            <a:ext cx="401002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1758F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41C2B-5C56-47C5-86FB-A8962AB22C56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3286125"/>
            <a:ext cx="126682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1758F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D9703-CFF8-436C-AE61-7C28D9DD376F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619625" y="3286125"/>
            <a:ext cx="147637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1758F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C3F9E-6081-45DD-A516-B7A3DD09F95B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876425" y="3286125"/>
            <a:ext cx="421957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1758F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2997E-0187-4CDB-A587-93BB2E7A1C1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962900" y="25717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1758F"/>
            </a:solidFill>
            <a:prstDash val="solid"/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2FF01-DB19-4B51-9281-91C59CD73452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543300" y="25717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1758F"/>
            </a:solidFill>
            <a:prstDash val="solid"/>
            <a:tailEnd type="triangle" w="med" len="med"/>
          </a:ln>
        </p:spPr>
      </p:cxnSp>
      <p:sp>
        <p:nvSpPr>
          <p:cNvPr id="16" name="Multi-agent input and output">
            <a:extLst xmlns:a="http://schemas.openxmlformats.org/drawingml/2006/main">
              <a:ext uri="{FF2B5EF4-FFF2-40B4-BE49-F238E27FC236}">
                <a16:creationId xmlns:a16="http://schemas.microsoft.com/office/drawing/2014/main" id="{D214520E-3727-48E7-8BFF-C46B0275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Multi-agent input and output</a:t>
            </a:r>
          </a:p>
        </p:txBody>
      </p:sp>
      <p:sp>
        <p:nvSpPr>
          <p:cNvPr id="2" name="INPUT ASI:One report Problem + location">
            <a:extLst xmlns:a="http://schemas.openxmlformats.org/drawingml/2006/main">
              <a:ext uri="{FF2B5EF4-FFF2-40B4-BE49-F238E27FC236}">
                <a16:creationId xmlns:a16="http://schemas.microsoft.com/office/drawing/2014/main" id="{E3B8C77B-95EE-45BE-830E-E5517E1D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E2B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INPUT</a:t>
            </a:r>
          </a:p>
          <a:p xmlns:a="http://schemas.openxmlformats.org/drawingml/2006/main">
            <a: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ASI:One report</a:t>
            </a:r>
          </a:p>
          <a:p xmlns:a="http://schemas.openxmlformats.org/drawingml/2006/main">
            <a: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Problem + location</a:t>
            </a:r>
          </a:p>
        </p:txBody>
      </p:sp>
      <p:sp>
        <p:nvSpPr>
          <p:cNvPr id="3" name="Coordinator + ASI1 Clarify and validate Select eligible roster staff">
            <a:extLst xmlns:a="http://schemas.openxmlformats.org/drawingml/2006/main">
              <a:ext uri="{FF2B5EF4-FFF2-40B4-BE49-F238E27FC236}">
                <a16:creationId xmlns:a16="http://schemas.microsoft.com/office/drawing/2014/main" id="{E7F66120-85CA-4D68-9C2B-F2BC05A9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57375"/>
            <a:ext cx="3733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E2B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Coordinator + ASI1</a:t>
            </a:r>
          </a:p>
          <a:p xmlns:a="http://schemas.openxmlformats.org/drawingml/2006/main">
            <a: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Clarify and validate</a:t>
            </a:r>
          </a:p>
          <a:p xmlns:a="http://schemas.openxmlformats.org/drawingml/2006/main">
            <a: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Select eligible roster staff</a:t>
            </a:r>
          </a:p>
        </p:txBody>
      </p:sp>
      <p:sp>
        <p:nvSpPr>
          <p:cNvPr id="4" name="OUTPUT IN ASI:One Issue ID Owner + current status">
            <a:extLst xmlns:a="http://schemas.openxmlformats.org/drawingml/2006/main">
              <a:ext uri="{FF2B5EF4-FFF2-40B4-BE49-F238E27FC236}">
                <a16:creationId xmlns:a16="http://schemas.microsoft.com/office/drawing/2014/main" id="{7470F9D8-11A4-4D63-91CC-AE4924DE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5737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E2B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OUTPUT IN ASI:One</a:t>
            </a:r>
          </a:p>
          <a:p xmlns:a="http://schemas.openxmlformats.org/drawingml/2006/main">
            <a: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Issue ID</a:t>
            </a:r>
          </a:p>
          <a:p xmlns:a="http://schemas.openxmlformats.org/drawingml/2006/main">
            <a:pPr algn="ctr">
              <a:defRPr sz="202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Owner + current status</a:t>
            </a:r>
          </a:p>
        </p:txBody>
      </p:sp>
      <p:sp>
        <p:nvSpPr>
          <p:cNvPr id="7" name="Hospitality">
            <a:extLst xmlns:a="http://schemas.openxmlformats.org/drawingml/2006/main">
              <a:ext uri="{FF2B5EF4-FFF2-40B4-BE49-F238E27FC236}">
                <a16:creationId xmlns:a16="http://schemas.microsoft.com/office/drawing/2014/main" id="{F4A8F3A9-E343-45BF-A332-EF16B084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Hospitality</a:t>
            </a:r>
          </a:p>
        </p:txBody>
      </p:sp>
      <p:sp>
        <p:nvSpPr>
          <p:cNvPr id="9" name="Audio">
            <a:extLst xmlns:a="http://schemas.openxmlformats.org/drawingml/2006/main">
              <a:ext uri="{FF2B5EF4-FFF2-40B4-BE49-F238E27FC236}">
                <a16:creationId xmlns:a16="http://schemas.microsoft.com/office/drawing/2014/main" id="{4C69660B-974A-415A-A9DF-E244B09C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148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Audio</a:t>
            </a:r>
          </a:p>
        </p:txBody>
      </p:sp>
      <p:sp>
        <p:nvSpPr>
          <p:cNvPr id="11" name="Facilities">
            <a:extLst xmlns:a="http://schemas.openxmlformats.org/drawingml/2006/main">
              <a:ext uri="{FF2B5EF4-FFF2-40B4-BE49-F238E27FC236}">
                <a16:creationId xmlns:a16="http://schemas.microsoft.com/office/drawing/2014/main" id="{EB0481B9-CD23-43EB-ADE3-EF06BA53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148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Facilities</a:t>
            </a:r>
          </a:p>
        </p:txBody>
      </p:sp>
      <p:sp>
        <p:nvSpPr>
          <p:cNvPr id="13" name="Housekeeping">
            <a:extLst xmlns:a="http://schemas.openxmlformats.org/drawingml/2006/main">
              <a:ext uri="{FF2B5EF4-FFF2-40B4-BE49-F238E27FC236}">
                <a16:creationId xmlns:a16="http://schemas.microsoft.com/office/drawing/2014/main" id="{C0143741-7A99-4DCC-BDAF-93C0C4C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148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Housekeeping</a:t>
            </a:r>
          </a:p>
        </p:txBody>
      </p:sp>
      <p:sp>
        <p:nvSpPr>
          <p:cNvPr id="15" name="Typed offer messages go out. Accept/decline callbacks return to the co">
            <a:extLst xmlns:a="http://schemas.openxmlformats.org/drawingml/2006/main">
              <a:ext uri="{FF2B5EF4-FFF2-40B4-BE49-F238E27FC236}">
                <a16:creationId xmlns:a16="http://schemas.microsoft.com/office/drawing/2014/main" id="{321CCD8F-C2CF-45B1-86C0-5C0D8194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Typed offer messages go out. Accept/decline callbacks return to the coordinator.</a:t>
            </a:r>
          </a:p>
        </p:txBody>
      </p:sp>
    </p:spTree>
    <p:extLst>
      <p:ext uri="{BB962C8B-B14F-4D97-AF65-F5344CB8AC3E}">
        <p14:creationId xmlns:p14="http://schemas.microsoft.com/office/powerpoint/2010/main" val="513421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716C0-B6B7-4F86-951B-38816E32CCC9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2686050" y="4705350"/>
            <a:ext cx="1309688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59E2BD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2165E-C5AE-40ED-892C-73F2E3853164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590925" y="2762250"/>
            <a:ext cx="404813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1758F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6E910-886C-46F2-B260-6716E915FBC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877425" y="4705350"/>
            <a:ext cx="38100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59E2BD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AB5C4-9C95-4573-9FC2-A3A27D6772C0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7686675" y="4705350"/>
            <a:ext cx="219075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59E2BD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5E986-F5DB-46BA-9C12-3BF1792E33E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877425" y="27622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1758F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A9D1F-BC5B-4D5A-BBFA-C10F10A699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91550" y="2357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1758F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9013C-8360-481D-A206-E7CF2DE5A76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96050" y="2357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1758F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AC17B-465C-4EB7-AB0A-FDD489E4592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00550" y="2357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1758F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8BA34-F9DC-451E-8861-096A2FEF381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05050" y="2357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1758F"/>
            </a:solidFill>
            <a:prstDash val="solid"/>
            <a:tailEnd type="triangle" w="med" len="med"/>
          </a:ln>
        </p:spPr>
      </p:cxnSp>
      <p:sp>
        <p:nvSpPr>
          <p:cNvPr id="26" name="Acceptance, recovery and final outputs">
            <a:extLst xmlns:a="http://schemas.openxmlformats.org/drawingml/2006/main">
              <a:ext uri="{FF2B5EF4-FFF2-40B4-BE49-F238E27FC236}">
                <a16:creationId xmlns:a16="http://schemas.microsoft.com/office/drawing/2014/main" id="{771918E6-2F24-4A28-8130-0995D87B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Acceptance, recovery and final outputs</a:t>
            </a:r>
          </a:p>
        </p:txBody>
      </p:sp>
      <p:sp>
        <p:nvSpPr>
          <p:cNvPr id="2" name="Overdue follow-up also escalates to organizer attention.">
            <a:extLst xmlns:a="http://schemas.openxmlformats.org/drawingml/2006/main">
              <a:ext uri="{FF2B5EF4-FFF2-40B4-BE49-F238E27FC236}">
                <a16:creationId xmlns:a16="http://schemas.microsoft.com/office/drawing/2014/main" id="{16ACB56E-D0C4-4565-B506-E97363D6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Overdue follow-up also escalates to organizer attention.</a:t>
            </a:r>
          </a:p>
        </p:txBody>
      </p:sp>
      <p:sp>
        <p:nvSpPr>
          <p:cNvPr id="3" name="Report + clarify">
            <a:extLst xmlns:a="http://schemas.openxmlformats.org/drawingml/2006/main">
              <a:ext uri="{FF2B5EF4-FFF2-40B4-BE49-F238E27FC236}">
                <a16:creationId xmlns:a16="http://schemas.microsoft.com/office/drawing/2014/main" id="{EFE94BA7-AA1E-4070-9C89-F3A7E409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Report +</a:t>
            </a:r>
          </a:p>
          <a:p xmlns:a="http://schemas.openxmlformats.org/drawingml/2006/main">
            <a: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clarify</a:t>
            </a:r>
          </a:p>
        </p:txBody>
      </p:sp>
      <p:sp>
        <p:nvSpPr>
          <p:cNvPr id="4" name="Offer">
            <a:extLst xmlns:a="http://schemas.openxmlformats.org/drawingml/2006/main">
              <a:ext uri="{FF2B5EF4-FFF2-40B4-BE49-F238E27FC236}">
                <a16:creationId xmlns:a16="http://schemas.microsoft.com/office/drawing/2014/main" id="{1357B9F0-5C37-4036-8213-DA2FA4C2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Offer</a:t>
            </a:r>
          </a:p>
        </p:txBody>
      </p:sp>
      <p:sp>
        <p:nvSpPr>
          <p:cNvPr id="5" name="Crew accepts">
            <a:extLst xmlns:a="http://schemas.openxmlformats.org/drawingml/2006/main">
              <a:ext uri="{FF2B5EF4-FFF2-40B4-BE49-F238E27FC236}">
                <a16:creationId xmlns:a16="http://schemas.microsoft.com/office/drawing/2014/main" id="{AE88C2E7-ABD3-462D-A747-3C602ED7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52625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Crew</a:t>
            </a:r>
          </a:p>
          <a:p xmlns:a="http://schemas.openxmlformats.org/drawingml/2006/main">
            <a:pPr algn="ctr">
              <a:defRPr sz="195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accepts</a:t>
            </a:r>
          </a:p>
        </p:txBody>
      </p:sp>
      <p:sp>
        <p:nvSpPr>
          <p:cNvPr id="6" name="Work + follow-up">
            <a:extLst xmlns:a="http://schemas.openxmlformats.org/drawingml/2006/main">
              <a:ext uri="{FF2B5EF4-FFF2-40B4-BE49-F238E27FC236}">
                <a16:creationId xmlns:a16="http://schemas.microsoft.com/office/drawing/2014/main" id="{CEA9C296-E643-4E79-B103-0F0506A8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Work +</a:t>
            </a:r>
          </a:p>
          <a:p xmlns:a="http://schemas.openxmlformats.org/drawingml/2006/main">
            <a:pPr algn="ctr">
              <a:defRPr sz="1875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follow-up</a:t>
            </a:r>
          </a:p>
        </p:txBody>
      </p:sp>
      <p:sp>
        <p:nvSpPr>
          <p:cNvPr id="7" name="Crew reports completion">
            <a:extLst xmlns:a="http://schemas.openxmlformats.org/drawingml/2006/main">
              <a:ext uri="{FF2B5EF4-FFF2-40B4-BE49-F238E27FC236}">
                <a16:creationId xmlns:a16="http://schemas.microsoft.com/office/drawing/2014/main" id="{BA86E4C8-90E8-47A7-B286-94D9F23C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52625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Crew reports</a:t>
            </a:r>
          </a:p>
          <a:p xmlns:a="http://schemas.openxmlformats.org/drawingml/2006/main">
            <a: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completion</a:t>
            </a:r>
          </a:p>
        </p:txBody>
      </p:sp>
      <p:sp>
        <p:nvSpPr>
          <p:cNvPr id="12" name="Reporter confirms">
            <a:extLst xmlns:a="http://schemas.openxmlformats.org/drawingml/2006/main">
              <a:ext uri="{FF2B5EF4-FFF2-40B4-BE49-F238E27FC236}">
                <a16:creationId xmlns:a16="http://schemas.microsoft.com/office/drawing/2014/main" id="{7ACB5C3D-D224-4695-8592-F203A1BD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E2B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Reporter</a:t>
            </a:r>
          </a:p>
          <a:p xmlns:a="http://schemas.openxmlformats.org/drawingml/2006/main">
            <a:pPr algn="ctr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confirms</a:t>
            </a:r>
          </a:p>
        </p:txBody>
      </p:sp>
      <p:sp>
        <p:nvSpPr>
          <p:cNvPr id="14" name="OUTPUT CLOSED">
            <a:extLst xmlns:a="http://schemas.openxmlformats.org/drawingml/2006/main">
              <a:ext uri="{FF2B5EF4-FFF2-40B4-BE49-F238E27FC236}">
                <a16:creationId xmlns:a16="http://schemas.microsoft.com/office/drawing/2014/main" id="{08E78B14-371F-4F5D-AF05-E93333D8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292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E2B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OUTPUT</a:t>
            </a:r>
          </a:p>
          <a:p xmlns:a="http://schemas.openxmlformats.org/drawingml/2006/main">
            <a: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CLOSED</a:t>
            </a:r>
          </a:p>
        </p:txBody>
      </p:sp>
      <p:sp>
        <p:nvSpPr>
          <p:cNvPr id="15" name="Reopen same ID Return to offer">
            <a:extLst xmlns:a="http://schemas.openxmlformats.org/drawingml/2006/main">
              <a:ext uri="{FF2B5EF4-FFF2-40B4-BE49-F238E27FC236}">
                <a16:creationId xmlns:a16="http://schemas.microsoft.com/office/drawing/2014/main" id="{2D73981A-9749-4A5B-87BD-8BE0B0A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292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Reopen same ID</a:t>
            </a:r>
          </a:p>
          <a:p xmlns:a="http://schemas.openxmlformats.org/drawingml/2006/main">
            <a: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Return to offer</a:t>
            </a:r>
          </a:p>
        </p:txBody>
      </p:sp>
      <p:sp>
        <p:nvSpPr>
          <p:cNvPr id="18" name="Resolved">
            <a:extLst xmlns:a="http://schemas.openxmlformats.org/drawingml/2006/main">
              <a:ext uri="{FF2B5EF4-FFF2-40B4-BE49-F238E27FC236}">
                <a16:creationId xmlns:a16="http://schemas.microsoft.com/office/drawing/2014/main" id="{7EA86710-6FC9-496F-9199-55523524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7529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Resolved</a:t>
            </a:r>
          </a:p>
        </p:txBody>
      </p:sp>
      <p:sp>
        <p:nvSpPr>
          <p:cNvPr id="19" name="Still a&#10;problem">
            <a:extLst xmlns:a="http://schemas.openxmlformats.org/drawingml/2006/main">
              <a:ext uri="{FF2B5EF4-FFF2-40B4-BE49-F238E27FC236}">
                <a16:creationId xmlns:a16="http://schemas.microsoft.com/office/drawing/2014/main" id="{E9D46AAB-8552-48B8-8EE4-977218A0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Still a</a:t>
            </a:r>
          </a:p>
          <a:p xmlns:a="http://schemas.openxmlformats.org/drawingml/2006/main">
            <a:pPr algn="l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20" name="Decline / timeout Try eligible backup">
            <a:extLst xmlns:a="http://schemas.openxmlformats.org/drawingml/2006/main">
              <a:ext uri="{FF2B5EF4-FFF2-40B4-BE49-F238E27FC236}">
                <a16:creationId xmlns:a16="http://schemas.microsoft.com/office/drawing/2014/main" id="{051543F6-D5A4-4FEA-AD1C-59DEF1C3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428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758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Decline / timeout</a:t>
            </a:r>
          </a:p>
          <a:p xmlns:a="http://schemas.openxmlformats.org/drawingml/2006/main">
            <a:pPr algn="ctr">
              <a:defRPr sz="18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Try eligible backup</a:t>
            </a:r>
          </a:p>
        </p:txBody>
      </p:sp>
      <p:sp>
        <p:nvSpPr>
          <p:cNvPr id="22" name="OUTPUT UNRESOLVED / ESCALATED">
            <a:extLst xmlns:a="http://schemas.openxmlformats.org/drawingml/2006/main">
              <a:ext uri="{FF2B5EF4-FFF2-40B4-BE49-F238E27FC236}">
                <a16:creationId xmlns:a16="http://schemas.microsoft.com/office/drawing/2014/main" id="{0B2A6A14-C5BA-4326-A2DB-67D7BF1C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E2BD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OUTPUT</a:t>
            </a:r>
          </a:p>
          <a:p xmlns:a="http://schemas.openxmlformats.org/drawingml/2006/main">
            <a:pPr algn="ctr">
              <a:defRPr sz="18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UNRESOLVED / ESCALATED</a:t>
            </a:r>
          </a:p>
        </p:txBody>
      </p:sp>
      <p:sp>
        <p:nvSpPr>
          <p:cNvPr id="24" name="No eligible crew">
            <a:extLst xmlns:a="http://schemas.openxmlformats.org/drawingml/2006/main">
              <a:ext uri="{FF2B5EF4-FFF2-40B4-BE49-F238E27FC236}">
                <a16:creationId xmlns:a16="http://schemas.microsoft.com/office/drawing/2014/main" id="{EADA2B84-171A-411B-8920-D13A9530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No eligible crew</a:t>
            </a:r>
          </a:p>
        </p:txBody>
      </p:sp>
      <p:sp>
        <p:nvSpPr>
          <p:cNvPr id="25" name="Backup uses the&#10;approved roster.">
            <a:extLst xmlns:a="http://schemas.openxmlformats.org/drawingml/2006/main">
              <a:ext uri="{FF2B5EF4-FFF2-40B4-BE49-F238E27FC236}">
                <a16:creationId xmlns:a16="http://schemas.microsoft.com/office/drawing/2014/main" id="{29F13920-67C1-4FD2-AF90-FDBCD7A5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Backup uses the</a:t>
            </a:r>
          </a:p>
          <a:p xmlns:a="http://schemas.openxmlformats.org/drawingml/2006/main">
            <a:pPr algn="l">
              <a:defRPr sz="19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approved roster.</a:t>
            </a:r>
          </a:p>
        </p:txBody>
      </p:sp>
    </p:spTree>
    <p:extLst>
      <p:ext uri="{BB962C8B-B14F-4D97-AF65-F5344CB8AC3E}">
        <p14:creationId xmlns:p14="http://schemas.microsoft.com/office/powerpoint/2010/main" val="12591281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tual ASI:One conversation excerpts">
            <a:extLst xmlns:a="http://schemas.openxmlformats.org/drawingml/2006/main">
              <a:ext uri="{FF2B5EF4-FFF2-40B4-BE49-F238E27FC236}">
                <a16:creationId xmlns:a16="http://schemas.microsoft.com/office/drawing/2014/main" id="{A1000E6A-BF8D-4F3E-8720-5FEF6781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Actual ASI:One conversation excerpts</a:t>
            </a:r>
          </a:p>
        </p:txBody>
      </p:sp>
      <p:sp>
        <p:nvSpPr>
          <p:cNvPr id="2" name="ER-4DE240CA, 24 October 2026, about 18:32–18:44 IST">
            <a:extLst xmlns:a="http://schemas.openxmlformats.org/drawingml/2006/main">
              <a:ext uri="{FF2B5EF4-FFF2-40B4-BE49-F238E27FC236}">
                <a16:creationId xmlns:a16="http://schemas.microsoft.com/office/drawing/2014/main" id="{B8924E3C-E83E-4217-A911-C65AC3BB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ER-4DE240CA, 24 October 2026, about 18:32–18:44 IST</a:t>
            </a:r>
          </a:p>
        </p:txBody>
      </p:sp>
      <p:sp>
        <p:nvSpPr>
          <p:cNvPr id="3" name="Report">
            <a:extLst xmlns:a="http://schemas.openxmlformats.org/drawingml/2006/main">
              <a:ext uri="{FF2B5EF4-FFF2-40B4-BE49-F238E27FC236}">
                <a16:creationId xmlns:a16="http://schemas.microsoft.com/office/drawing/2014/main" id="{699EDA47-8369-4680-8F87-7DAA6CDE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Report</a:t>
            </a:r>
          </a:p>
        </p:txBody>
      </p:sp>
      <p:sp>
        <p:nvSpPr>
          <p:cNvPr id="4" name="“The microphone has stopped working at the Stage.&#10;Please send the audi">
            <a:extLst xmlns:a="http://schemas.openxmlformats.org/drawingml/2006/main">
              <a:ext uri="{FF2B5EF4-FFF2-40B4-BE49-F238E27FC236}">
                <a16:creationId xmlns:a16="http://schemas.microsoft.com/office/drawing/2014/main" id="{255D49E6-517E-4306-96BD-2F2DDA1A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24050"/>
            <a:ext cx="8505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“The microphone has stopped working at the Stage.</a:t>
            </a:r>
          </a:p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Please send the audio team.”</a:t>
            </a:r>
          </a:p>
        </p:txBody>
      </p:sp>
      <p:sp>
        <p:nvSpPr>
          <p:cNvPr id="5" name="Acceptance">
            <a:extLst xmlns:a="http://schemas.openxmlformats.org/drawingml/2006/main">
              <a:ext uri="{FF2B5EF4-FFF2-40B4-BE49-F238E27FC236}">
                <a16:creationId xmlns:a16="http://schemas.microsoft.com/office/drawing/2014/main" id="{7ED63530-ACBF-4AF7-B1E2-506F86B3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Acceptance</a:t>
            </a:r>
          </a:p>
        </p:txBody>
      </p:sp>
      <p:sp>
        <p:nvSpPr>
          <p:cNvPr id="6" name="“[Simulated staff response] Vendor decision recorded: accept.”&#10;“Status">
            <a:extLst xmlns:a="http://schemas.openxmlformats.org/drawingml/2006/main">
              <a:ext uri="{FF2B5EF4-FFF2-40B4-BE49-F238E27FC236}">
                <a16:creationId xmlns:a16="http://schemas.microsoft.com/office/drawing/2014/main" id="{40C6A38F-8243-4AE5-8F92-B56E252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28925"/>
            <a:ext cx="8505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“[Simulated staff response] Vendor decision recorded: accept.”</a:t>
            </a:r>
          </a:p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“Status: accepted Accountable owner: Ravi”</a:t>
            </a:r>
          </a:p>
        </p:txBody>
      </p:sp>
      <p:sp>
        <p:nvSpPr>
          <p:cNvPr id="7" name="After Done">
            <a:extLst xmlns:a="http://schemas.openxmlformats.org/drawingml/2006/main">
              <a:ext uri="{FF2B5EF4-FFF2-40B4-BE49-F238E27FC236}">
                <a16:creationId xmlns:a16="http://schemas.microsoft.com/office/drawing/2014/main" id="{D63BDCB3-994A-4B5C-BA37-C5FCD54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209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After Done</a:t>
            </a:r>
          </a:p>
        </p:txBody>
      </p:sp>
      <p:sp>
        <p:nvSpPr>
          <p:cNvPr id="8" name="“Status: awaiting confirmation”">
            <a:extLst xmlns:a="http://schemas.openxmlformats.org/drawingml/2006/main">
              <a:ext uri="{FF2B5EF4-FFF2-40B4-BE49-F238E27FC236}">
                <a16:creationId xmlns:a16="http://schemas.microsoft.com/office/drawing/2014/main" id="{D38D08F6-68AF-4581-92A3-059273D6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10000"/>
            <a:ext cx="8505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“Status: awaiting confirmation”</a:t>
            </a:r>
          </a:p>
        </p:txBody>
      </p:sp>
      <p:sp>
        <p:nvSpPr>
          <p:cNvPr id="9" name="Reopen">
            <a:extLst xmlns:a="http://schemas.openxmlformats.org/drawingml/2006/main">
              <a:ext uri="{FF2B5EF4-FFF2-40B4-BE49-F238E27FC236}">
                <a16:creationId xmlns:a16="http://schemas.microsoft.com/office/drawing/2014/main" id="{E725ADFE-66A0-46EE-A1D1-9ACA4C17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Reopen</a:t>
            </a:r>
          </a:p>
        </p:txBody>
      </p:sp>
      <p:sp>
        <p:nvSpPr>
          <p:cNvPr id="10" name="“Still a problem”&#10;The same issue reopened and Ravi accepted again.">
            <a:extLst xmlns:a="http://schemas.openxmlformats.org/drawingml/2006/main">
              <a:ext uri="{FF2B5EF4-FFF2-40B4-BE49-F238E27FC236}">
                <a16:creationId xmlns:a16="http://schemas.microsoft.com/office/drawing/2014/main" id="{DC3299A3-22B6-44DD-993C-8C1424EA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76750"/>
            <a:ext cx="8505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“Still a problem”</a:t>
            </a:r>
          </a:p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The same issue reopened and Ravi accepted again.</a:t>
            </a:r>
          </a:p>
        </p:txBody>
      </p:sp>
      <p:sp>
        <p:nvSpPr>
          <p:cNvPr id="11" name="Final confirmation">
            <a:extLst xmlns:a="http://schemas.openxmlformats.org/drawingml/2006/main">
              <a:ext uri="{FF2B5EF4-FFF2-40B4-BE49-F238E27FC236}">
                <a16:creationId xmlns:a16="http://schemas.microsoft.com/office/drawing/2014/main" id="{58517CB4-3F0D-40AC-A7A8-0688CA45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Final confirmation</a:t>
            </a:r>
          </a:p>
        </p:txBody>
      </p:sp>
      <p:sp>
        <p:nvSpPr>
          <p:cNvPr id="12" name="“Yes, resolved”&#10;“Status: closed Accountable owner: Ravi”">
            <a:extLst xmlns:a="http://schemas.openxmlformats.org/drawingml/2006/main">
              <a:ext uri="{FF2B5EF4-FFF2-40B4-BE49-F238E27FC236}">
                <a16:creationId xmlns:a16="http://schemas.microsoft.com/office/drawing/2014/main" id="{8828B221-DB82-4A40-A060-378851B5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62575"/>
            <a:ext cx="8505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“Yes, resolved”</a:t>
            </a:r>
          </a:p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“Status: closed Accountable owner: Ravi”</a:t>
            </a:r>
          </a:p>
        </p:txBody>
      </p:sp>
      <p:sp>
        <p:nvSpPr>
          <p:cNvPr id="13" name="Public chat on the last slide. 83 tests passed. Crew decisions and phy">
            <a:extLst xmlns:a="http://schemas.openxmlformats.org/drawingml/2006/main">
              <a:ext uri="{FF2B5EF4-FFF2-40B4-BE49-F238E27FC236}">
                <a16:creationId xmlns:a16="http://schemas.microsoft.com/office/drawing/2014/main" id="{9968D4A9-A8EE-4C26-93DD-DA09989F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Public chat on the last slide. 83 tests passed. Crew decisions and physical work are synthetic.</a:t>
            </a:r>
          </a:p>
        </p:txBody>
      </p:sp>
    </p:spTree>
    <p:extLst>
      <p:ext uri="{BB962C8B-B14F-4D97-AF65-F5344CB8AC3E}">
        <p14:creationId xmlns:p14="http://schemas.microsoft.com/office/powerpoint/2010/main" val="1463785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uture scope and candidate use cases">
            <a:extLst xmlns:a="http://schemas.openxmlformats.org/drawingml/2006/main">
              <a:ext uri="{FF2B5EF4-FFF2-40B4-BE49-F238E27FC236}">
                <a16:creationId xmlns:a16="http://schemas.microsoft.com/office/drawing/2014/main" id="{CCAA6274-28E5-4328-BE86-D441CCFA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Future scope and candidate use cases</a:t>
            </a:r>
          </a:p>
        </p:txBody>
      </p:sp>
      <p:sp>
        <p:nvSpPr>
          <p:cNvPr id="2" name="Proposed development">
            <a:extLst xmlns:a="http://schemas.openxmlformats.org/drawingml/2006/main">
              <a:ext uri="{FF2B5EF4-FFF2-40B4-BE49-F238E27FC236}">
                <a16:creationId xmlns:a16="http://schemas.microsoft.com/office/drawing/2014/main" id="{C2F178A6-73FE-4017-93D9-0CF11EE1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Proposed development</a:t>
            </a:r>
          </a:p>
        </p:txBody>
      </p:sp>
      <p:sp>
        <p:nvSpPr>
          <p:cNvPr id="3" name="Verified staff onboarding&#10;for a real planner pilot">
            <a:extLst xmlns:a="http://schemas.openxmlformats.org/drawingml/2006/main">
              <a:ext uri="{FF2B5EF4-FFF2-40B4-BE49-F238E27FC236}">
                <a16:creationId xmlns:a16="http://schemas.microsoft.com/office/drawing/2014/main" id="{F3FE07C2-809A-49FE-8BEB-67E49C02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Verified staff onboarding</a:t>
            </a:r>
          </a:p>
          <a:p xmlns:a="http://schemas.openxmlformats.org/drawingml/2006/main">
            <a: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for a real planner pilot</a:t>
            </a:r>
          </a:p>
        </p:txBody>
      </p:sp>
      <p:sp>
        <p:nvSpPr>
          <p:cNvPr id="4" name="Multiple event rosters&#10;and reusable templates">
            <a:extLst xmlns:a="http://schemas.openxmlformats.org/drawingml/2006/main">
              <a:ext uri="{FF2B5EF4-FFF2-40B4-BE49-F238E27FC236}">
                <a16:creationId xmlns:a16="http://schemas.microsoft.com/office/drawing/2014/main" id="{ED4500C7-1CAD-4E59-9EC0-A0286A6A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Multiple event rosters</a:t>
            </a:r>
          </a:p>
          <a:p xmlns:a="http://schemas.openxmlformats.org/drawingml/2006/main">
            <a:pPr algn="l">
              <a:defRPr sz="2250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and reusable templates</a:t>
            </a:r>
          </a:p>
        </p:txBody>
      </p:sp>
      <p:sp>
        <p:nvSpPr>
          <p:cNvPr id="5" name="Optional WhatsApp or voice&#10;integrations, not implemented">
            <a:extLst xmlns:a="http://schemas.openxmlformats.org/drawingml/2006/main">
              <a:ext uri="{FF2B5EF4-FFF2-40B4-BE49-F238E27FC236}">
                <a16:creationId xmlns:a16="http://schemas.microsoft.com/office/drawing/2014/main" id="{C0BBB917-B04C-452A-A88C-0679FA55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Optional WhatsApp or voice</a:t>
            </a:r>
          </a:p>
          <a:p xmlns:a="http://schemas.openxmlformats.org/drawingml/2006/main">
            <a:pPr algn="l">
              <a:defRPr sz="21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integrations, not implemented</a:t>
            </a:r>
          </a:p>
        </p:txBody>
      </p:sp>
      <p:sp>
        <p:nvSpPr>
          <p:cNvPr id="6" name="Candidate settings">
            <a:extLst xmlns:a="http://schemas.openxmlformats.org/drawingml/2006/main">
              <a:ext uri="{FF2B5EF4-FFF2-40B4-BE49-F238E27FC236}">
                <a16:creationId xmlns:a16="http://schemas.microsoft.com/office/drawing/2014/main" id="{530ABF1E-F5E2-4204-B2E7-A55A944B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287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Candidate settings</a:t>
            </a:r>
          </a:p>
        </p:txBody>
      </p:sp>
      <p:sp>
        <p:nvSpPr>
          <p:cNvPr id="7" name="Weddings: water or sound issues">
            <a:extLst xmlns:a="http://schemas.openxmlformats.org/drawingml/2006/main">
              <a:ext uri="{FF2B5EF4-FFF2-40B4-BE49-F238E27FC236}">
                <a16:creationId xmlns:a16="http://schemas.microsoft.com/office/drawing/2014/main" id="{093615B7-79F7-4DC0-9FB1-D3A09DA7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57425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Weddings: water or sound issues</a:t>
            </a:r>
          </a:p>
        </p:txBody>
      </p:sp>
      <p:sp>
        <p:nvSpPr>
          <p:cNvPr id="8" name="Birthdays: lighting or cleanup">
            <a:extLst xmlns:a="http://schemas.openxmlformats.org/drawingml/2006/main">
              <a:ext uri="{FF2B5EF4-FFF2-40B4-BE49-F238E27FC236}">
                <a16:creationId xmlns:a16="http://schemas.microsoft.com/office/drawing/2014/main" id="{3377A191-F217-4263-8FE2-90FA2816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19425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Birthdays: lighting or cleanup</a:t>
            </a:r>
          </a:p>
        </p:txBody>
      </p:sp>
      <p:sp>
        <p:nvSpPr>
          <p:cNvPr id="9" name="Campus fests: stage handoffs">
            <a:extLst xmlns:a="http://schemas.openxmlformats.org/drawingml/2006/main">
              <a:ext uri="{FF2B5EF4-FFF2-40B4-BE49-F238E27FC236}">
                <a16:creationId xmlns:a16="http://schemas.microsoft.com/office/drawing/2014/main" id="{BC95A102-21DA-46DF-AB17-8D7660E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81425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Campus fests: stage handoffs</a:t>
            </a:r>
          </a:p>
        </p:txBody>
      </p:sp>
      <p:sp>
        <p:nvSpPr>
          <p:cNvPr id="10" name="Conferences: audio and facilities">
            <a:extLst xmlns:a="http://schemas.openxmlformats.org/drawingml/2006/main">
              <a:ext uri="{FF2B5EF4-FFF2-40B4-BE49-F238E27FC236}">
                <a16:creationId xmlns:a16="http://schemas.microsoft.com/office/drawing/2014/main" id="{AA6AC1BC-0BED-4E1F-A1BC-C8BB749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43425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Conferences: audio and facilities</a:t>
            </a:r>
          </a:p>
        </p:txBody>
      </p:sp>
      <p:sp>
        <p:nvSpPr>
          <p:cNvPr id="11" name="Business hypothesis: a paid event pilot, then an agency subscription i">
            <a:extLst xmlns:a="http://schemas.openxmlformats.org/drawingml/2006/main">
              <a:ext uri="{FF2B5EF4-FFF2-40B4-BE49-F238E27FC236}">
                <a16:creationId xmlns:a16="http://schemas.microsoft.com/office/drawing/2014/main" id="{7BEF98EE-93B7-44D7-8239-A6D202B1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Business hypothesis: a paid event pilot, then an agency subscription if repeat use proves valuable.</a:t>
            </a:r>
          </a:p>
        </p:txBody>
      </p:sp>
    </p:spTree>
    <p:extLst>
      <p:ext uri="{BB962C8B-B14F-4D97-AF65-F5344CB8AC3E}">
        <p14:creationId xmlns:p14="http://schemas.microsoft.com/office/powerpoint/2010/main" val="1596745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Use EventRelay and inspect the source">
            <a:extLst xmlns:a="http://schemas.openxmlformats.org/drawingml/2006/main">
              <a:ext uri="{FF2B5EF4-FFF2-40B4-BE49-F238E27FC236}">
                <a16:creationId xmlns:a16="http://schemas.microsoft.com/office/drawing/2014/main" id="{387306C4-5367-4731-9AB8-21554526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Use EventRelay and inspect the source</a:t>
            </a:r>
          </a:p>
        </p:txBody>
      </p:sp>
      <p:sp>
        <p:nvSpPr>
          <p:cNvPr id="2" name="Use EventRelay in ASI:One">
            <a:extLst xmlns:a="http://schemas.openxmlformats.org/drawingml/2006/main">
              <a:ext uri="{FF2B5EF4-FFF2-40B4-BE49-F238E27FC236}">
                <a16:creationId xmlns:a16="http://schemas.microsoft.com/office/drawing/2014/main" id="{38D6A4B2-F324-4C36-8207-C9FFCFCA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175" b="1" u="sng">
                <a:solidFill>
                  <a:srgbClr val="59E2BD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056aed1ee8cd43ef"/>
              </a:rPr>
              <a:t>Use EventRelay in ASI:One</a:t>
            </a:r>
          </a:p>
        </p:txBody>
      </p:sp>
      <p:sp>
        <p:nvSpPr>
          <p:cNvPr id="3" name="https://asi1.ai/ai/agent1qw8wdau552av7vc7u0cgc4te3skntynvwkxay8244u995">
            <a:extLst xmlns:a="http://schemas.openxmlformats.org/drawingml/2006/main">
              <a:ext uri="{FF2B5EF4-FFF2-40B4-BE49-F238E27FC236}">
                <a16:creationId xmlns:a16="http://schemas.microsoft.com/office/drawing/2014/main" id="{7ACB9E5D-23D8-4FA2-9D5F-53E5748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https://asi1.ai/ai/agent1qw8wdau552av7vc7u0cgc4te3skntynvwkxay8244u995xcd67m32tjqmzu</a:t>
            </a:r>
          </a:p>
        </p:txBody>
      </p:sp>
      <p:sp>
        <p:nvSpPr>
          <p:cNvPr id="4" name="GitHub source and setup">
            <a:extLst xmlns:a="http://schemas.openxmlformats.org/drawingml/2006/main">
              <a:ext uri="{FF2B5EF4-FFF2-40B4-BE49-F238E27FC236}">
                <a16:creationId xmlns:a16="http://schemas.microsoft.com/office/drawing/2014/main" id="{7F5B92AE-03BB-4E23-93B2-2E6F52EE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175" b="1" u="sng">
                <a:solidFill>
                  <a:srgbClr val="59E2BD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324ddbf72318491c"/>
              </a:rPr>
              <a:t>GitHub source and setup</a:t>
            </a:r>
          </a:p>
        </p:txBody>
      </p:sp>
      <p:sp>
        <p:nvSpPr>
          <p:cNvPr id="5" name="https://github.com/sibiselvam2027-cpu/eventrelay-fetchathon">
            <a:extLst xmlns:a="http://schemas.openxmlformats.org/drawingml/2006/main">
              <a:ext uri="{FF2B5EF4-FFF2-40B4-BE49-F238E27FC236}">
                <a16:creationId xmlns:a16="http://schemas.microsoft.com/office/drawing/2014/main" id="{D9838F3C-4A1F-4C76-9E48-44183059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https://github.com/sibiselvam2027-cpu/eventrelay-fetchathon</a:t>
            </a:r>
          </a:p>
        </p:txBody>
      </p:sp>
      <p:sp>
        <p:nvSpPr>
          <p:cNvPr id="6" name="Read the verified public ASI:One demo">
            <a:extLst xmlns:a="http://schemas.openxmlformats.org/drawingml/2006/main">
              <a:ext uri="{FF2B5EF4-FFF2-40B4-BE49-F238E27FC236}">
                <a16:creationId xmlns:a16="http://schemas.microsoft.com/office/drawing/2014/main" id="{C84E6C3F-C071-45BA-B894-DF167082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2175" b="1" u="sng">
                <a:solidFill>
                  <a:srgbClr val="59E2BD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99155716bc7c4700"/>
              </a:rPr>
              <a:t>Read the verified public ASI:One demo</a:t>
            </a:r>
          </a:p>
        </p:txBody>
      </p:sp>
      <p:sp>
        <p:nvSpPr>
          <p:cNvPr id="7" name="https://asi1.ai/shared-chat/69fc8518-55f8-4b17-bd88-59988ba627f7">
            <a:extLst xmlns:a="http://schemas.openxmlformats.org/drawingml/2006/main">
              <a:ext uri="{FF2B5EF4-FFF2-40B4-BE49-F238E27FC236}">
                <a16:creationId xmlns:a16="http://schemas.microsoft.com/office/drawing/2014/main" id="{E0C45AD8-EE9B-42F2-88BE-81A92261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3C5D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5DD"/>
                </a:solidFill>
                <a:latin typeface="Segoe UI"/>
                <a:ea typeface="Segoe UI"/>
                <a:cs typeface="Segoe UI"/>
              </a:rPr>
              <a:t>https://asi1.ai/shared-chat/69fc8518-55f8-4b17-bd88-59988ba627f7</a:t>
            </a:r>
          </a:p>
        </p:txBody>
      </p:sp>
      <p:sp>
        <p:nvSpPr>
          <p:cNvPr id="8" name="How to test">
            <a:extLst xmlns:a="http://schemas.openxmlformats.org/drawingml/2006/main">
              <a:ext uri="{FF2B5EF4-FFF2-40B4-BE49-F238E27FC236}">
                <a16:creationId xmlns:a16="http://schemas.microsoft.com/office/drawing/2014/main" id="{966C5D97-B5E1-4CB9-BC85-CAA7B45F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59E2B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9E2BD"/>
                </a:solidFill>
                <a:latin typeface="Segoe UI"/>
                <a:ea typeface="Segoe UI"/>
                <a:cs typeface="Segoe UI"/>
              </a:rPr>
              <a:t>How to test</a:t>
            </a:r>
          </a:p>
        </p:txBody>
      </p:sp>
      <p:sp>
        <p:nvSpPr>
          <p:cNvPr id="9" name="1  Open EventRelay and start your own ASI:One chat.&#10;2  Describe a prob">
            <a:extLst xmlns:a="http://schemas.openxmlformats.org/drawingml/2006/main">
              <a:ext uri="{FF2B5EF4-FFF2-40B4-BE49-F238E27FC236}">
                <a16:creationId xmlns:a16="http://schemas.microsoft.com/office/drawing/2014/main" id="{57DB0A80-F204-4ECD-9B73-70011460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1  Open EventRelay and start your own ASI:One chat.</a:t>
            </a:r>
          </a:p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2  Describe a problem and its location, such as a silent microphone at the Stage.</a:t>
            </a:r>
          </a:p>
          <a:p xmlns:a="http://schemas.openxmlformats.org/drawingml/2006/main">
            <a:pPr algn="l">
              <a:defRPr sz="1875" b="0">
                <a:solidFill>
                  <a:srgbClr val="F4F7F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4F7FC"/>
                </a:solidFill>
                <a:latin typeface="Segoe UI"/>
                <a:ea typeface="Segoe UI"/>
                <a:cs typeface="Segoe UI"/>
              </a:rPr>
              <a:t>3  Follow the cards. After demo crew completion, confirm the fix or reopen the issue.</a:t>
            </a:r>
          </a:p>
        </p:txBody>
      </p:sp>
    </p:spTree>
    <p:extLst>
      <p:ext uri="{BB962C8B-B14F-4D97-AF65-F5344CB8AC3E}">
        <p14:creationId xmlns:p14="http://schemas.microsoft.com/office/powerpoint/2010/main" val="373645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2026-10-24T14:57:08.4070000Z</dcterms:created>
  <dcterms:modified xsi:type="dcterms:W3CDTF">2026-10-24T14:57:08.4070000Z</dcterms:modified>
</coreProperties>
</file>